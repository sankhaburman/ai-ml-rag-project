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62" autoAdjust="0"/>
    <p:restoredTop sz="92203" autoAdjust="0"/>
  </p:normalViewPr>
  <p:slideViewPr>
    <p:cSldViewPr snapToGrid="0">
      <p:cViewPr varScale="1">
        <p:scale>
          <a:sx n="88" d="100"/>
          <a:sy n="8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3EB2-7C46-5CAF-92C9-BD50DB832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93561-856D-B54E-5F25-EBD5C8008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F3D71-1BB1-1595-DF97-7C40D6FC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D0903-3DB3-2962-6C2F-8B51FEA67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4DEAD-0B06-276F-1626-304D1E609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230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FA42-2679-89AF-E988-6896A30E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23F3-0264-781B-D9A2-954F0515C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E2B6-DD8E-0135-A3E9-4FDE66493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A71CD-32FF-41C3-5107-F4455236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FDE0-3F5F-CFD2-C4F0-7EFEEAAC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68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552A8-C5AE-CE05-B955-0A36B9FB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4983D-AECD-B05C-9EB9-F3CD175E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01ACA-6ED4-4F8C-0A07-881605BA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5CD91-C31E-BEBE-A38A-8E6CB3F1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3F65-47E2-4CBA-DDD7-F3655777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10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669B-64F6-1AEB-08F4-EEADB2571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547CA-ECC4-0062-033B-B5A7D06149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AF14E-2DF9-8413-1E66-9C0A78F78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51E96-6BC5-E3F9-F7F9-C5A69ABA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2F272-CF66-A5B9-A669-44843F6D4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A7395-68AA-DB74-26DB-96A6616D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796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F703B-E233-8D33-BCBC-824149773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699B32-F966-D090-D3BD-11FECD117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8F002-D338-E469-F4A2-0C3B803C51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00F41C-34D7-1BC5-A816-99309212AB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77B34-B307-82A6-208F-DC31A2530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7E06F3-E216-1291-0D52-AFD965F4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73DDA-27C9-8B02-27F7-B599E926E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7E93D-7CA5-7ED0-3CFB-D9BB8FB7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94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0C7B-FC6F-E49C-6C1A-D887E226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F5583B-0CD2-C1B7-C60A-FCAF07AF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433564-2A40-FFBD-923D-EEF02151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869CF-6939-E70C-534C-F0898901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179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F5A79-1E9F-8001-168A-88D69D6B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C4B0E-F182-E3D3-B591-E0F03DDF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C9CC0-10C1-B92B-FD0A-C4722A59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55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ED6D-A3D7-9898-D023-13A1ECFF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82B41-74C3-4751-5883-40180C807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02BE1-A34D-804F-0187-4EEEAF3CB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08B3F-9D5B-D6D1-CB74-6521C7E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292A5-E84B-CCA2-4C06-4A496404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83113-8281-AAD4-E522-27BF61A2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0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99F68-2C5B-9079-E9D2-827C435E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172D8-76D4-6DE4-0B88-FC4DF27DC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84BD9-95DF-51CF-7A4A-8675631D5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88CE8-4668-14B0-18CF-AFA3CB943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4E2-1241-AE05-245B-66B30C1E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4F8B7-69FB-6390-7563-82151802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94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0DDD-9CFD-D775-FC73-B1C552EB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9F956F-3943-D92B-D466-2C132CA8A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AFEEA-A735-3F6A-EF88-A7EE47EB0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5B2D0-C6BD-3C46-8D3E-0F9ECF2D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B855E-34C5-9A85-AB17-276B8918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687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00D954-EC97-D4EB-0E17-0680A86ED5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64276-0AA9-94CD-7959-1BB439DC7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25C8B-393F-43BB-81B6-2F0F0CA7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FFDCA-356F-1EF1-8F5E-D804CCD03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11A25-CC3F-A9B6-BBC4-0BC5891B5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24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E51393-F3EC-F09A-459E-133DBA7E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3E2C4-07C6-71B8-7662-1A7CBD5BB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C46F1-F846-B325-E527-65333224E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7AE49-4684-491E-863E-15BAD6CEF6AF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2338B-1149-2556-8947-0F9A1A23E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3A052-EC12-0B19-F3A2-1D00559D9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FFF7E-FA9B-4948-9F70-3F980CA578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55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03EBA-D8BD-41D3-053E-0D95844B9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9B0BA2-8F2F-9121-F696-D1BA296FF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429850"/>
              </p:ext>
            </p:extLst>
          </p:nvPr>
        </p:nvGraphicFramePr>
        <p:xfrm>
          <a:off x="455845" y="405648"/>
          <a:ext cx="11614235" cy="629124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479895">
                  <a:extLst>
                    <a:ext uri="{9D8B030D-6E8A-4147-A177-3AD203B41FA5}">
                      <a16:colId xmlns:a16="http://schemas.microsoft.com/office/drawing/2014/main" val="3598525814"/>
                    </a:ext>
                  </a:extLst>
                </a:gridCol>
                <a:gridCol w="11134340">
                  <a:extLst>
                    <a:ext uri="{9D8B030D-6E8A-4147-A177-3AD203B41FA5}">
                      <a16:colId xmlns:a16="http://schemas.microsoft.com/office/drawing/2014/main" val="516940850"/>
                    </a:ext>
                  </a:extLst>
                </a:gridCol>
              </a:tblGrid>
              <a:tr h="559213">
                <a:tc>
                  <a:txBody>
                    <a:bodyPr/>
                    <a:lstStyle/>
                    <a:p>
                      <a:pPr algn="ctr"/>
                      <a:r>
                        <a:rPr lang="en-IN" sz="1200" b="0" dirty="0"/>
                        <a:t>User Actions</a:t>
                      </a:r>
                    </a:p>
                  </a:txBody>
                  <a:tcPr marL="108000" vert="vert27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108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216356"/>
                  </a:ext>
                </a:extLst>
              </a:tr>
              <a:tr h="4237297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Advisory Capabilities </a:t>
                      </a:r>
                    </a:p>
                  </a:txBody>
                  <a:tcPr marL="108000" vert="vert27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108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747282"/>
                  </a:ext>
                </a:extLst>
              </a:tr>
              <a:tr h="149473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Outcomes</a:t>
                      </a:r>
                    </a:p>
                  </a:txBody>
                  <a:tcPr marL="108000" vert="vert270"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marL="10800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551298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DD017642-9D02-24CA-4964-BE240E63C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46" y="405649"/>
            <a:ext cx="963251" cy="45114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3225E4-040D-136C-EB3C-AA4638D6596D}"/>
              </a:ext>
            </a:extLst>
          </p:cNvPr>
          <p:cNvSpPr/>
          <p:nvPr/>
        </p:nvSpPr>
        <p:spPr>
          <a:xfrm>
            <a:off x="5314463" y="409746"/>
            <a:ext cx="1893112" cy="4201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Portfolio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D2888E-C868-E94D-2A70-7800EF9FD7FB}"/>
              </a:ext>
            </a:extLst>
          </p:cNvPr>
          <p:cNvSpPr/>
          <p:nvPr/>
        </p:nvSpPr>
        <p:spPr>
          <a:xfrm>
            <a:off x="2618803" y="407437"/>
            <a:ext cx="1625600" cy="4511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Dashboard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EAD2CC-A9C5-F431-26F9-10EC02C3D735}"/>
              </a:ext>
            </a:extLst>
          </p:cNvPr>
          <p:cNvSpPr/>
          <p:nvPr/>
        </p:nvSpPr>
        <p:spPr>
          <a:xfrm>
            <a:off x="1196284" y="1259395"/>
            <a:ext cx="1363134" cy="533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Advisor LLM Orchestrator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5FFD562-0279-96D2-451B-0AC297CE1A20}"/>
              </a:ext>
            </a:extLst>
          </p:cNvPr>
          <p:cNvSpPr/>
          <p:nvPr/>
        </p:nvSpPr>
        <p:spPr>
          <a:xfrm>
            <a:off x="2859374" y="1282595"/>
            <a:ext cx="1363134" cy="533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Advisor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2AE1B4-05C2-3877-1551-6DAD2AE3650E}"/>
              </a:ext>
            </a:extLst>
          </p:cNvPr>
          <p:cNvSpPr/>
          <p:nvPr/>
        </p:nvSpPr>
        <p:spPr>
          <a:xfrm>
            <a:off x="2740660" y="2124790"/>
            <a:ext cx="1927417" cy="6773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NAV + Portfolio Processing(MFAPI Portfolio Structure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FF6B69-EF05-FA42-9723-53200CE6478F}"/>
              </a:ext>
            </a:extLst>
          </p:cNvPr>
          <p:cNvSpPr/>
          <p:nvPr/>
        </p:nvSpPr>
        <p:spPr>
          <a:xfrm>
            <a:off x="6476708" y="1328306"/>
            <a:ext cx="1352050" cy="4023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Evaluate Risk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38A615-5D9C-29D3-2EC0-CF8ECF4E88BD}"/>
              </a:ext>
            </a:extLst>
          </p:cNvPr>
          <p:cNvSpPr/>
          <p:nvPr/>
        </p:nvSpPr>
        <p:spPr>
          <a:xfrm>
            <a:off x="8167249" y="1319531"/>
            <a:ext cx="1361312" cy="9663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Decision Logic/(HOLD/MINOR/REBALANCE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298A7C-7AFC-24A5-A709-CE5108616EDD}"/>
              </a:ext>
            </a:extLst>
          </p:cNvPr>
          <p:cNvSpPr/>
          <p:nvPr/>
        </p:nvSpPr>
        <p:spPr>
          <a:xfrm>
            <a:off x="7207575" y="5045183"/>
            <a:ext cx="2801079" cy="333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Explain Knowledge Retrieval (RAG)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929677-0D02-4F84-5F00-5246BE29890B}"/>
              </a:ext>
            </a:extLst>
          </p:cNvPr>
          <p:cNvCxnSpPr/>
          <p:nvPr/>
        </p:nvCxnSpPr>
        <p:spPr>
          <a:xfrm>
            <a:off x="1937236" y="633008"/>
            <a:ext cx="736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E117160-C4A6-ADAA-EAE3-138EFE21402F}"/>
              </a:ext>
            </a:extLst>
          </p:cNvPr>
          <p:cNvCxnSpPr>
            <a:cxnSpLocks/>
          </p:cNvCxnSpPr>
          <p:nvPr/>
        </p:nvCxnSpPr>
        <p:spPr>
          <a:xfrm>
            <a:off x="4368799" y="623684"/>
            <a:ext cx="821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1356C56-8FE9-AA2A-2E19-CB7A9AC0220E}"/>
              </a:ext>
            </a:extLst>
          </p:cNvPr>
          <p:cNvSpPr txBox="1"/>
          <p:nvPr/>
        </p:nvSpPr>
        <p:spPr>
          <a:xfrm>
            <a:off x="3140463" y="1869672"/>
            <a:ext cx="13624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Agentic AI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6BBE5E-C5B2-F196-9B0B-923D103AFBB4}"/>
              </a:ext>
            </a:extLst>
          </p:cNvPr>
          <p:cNvSpPr txBox="1"/>
          <p:nvPr/>
        </p:nvSpPr>
        <p:spPr>
          <a:xfrm>
            <a:off x="6932829" y="2271866"/>
            <a:ext cx="697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ML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EAA35F9-A45B-EE03-9C22-833C1E455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915" y="1286470"/>
            <a:ext cx="1359526" cy="402371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128818-9B9A-765B-9270-80C41A77E4D9}"/>
              </a:ext>
            </a:extLst>
          </p:cNvPr>
          <p:cNvCxnSpPr/>
          <p:nvPr/>
        </p:nvCxnSpPr>
        <p:spPr>
          <a:xfrm>
            <a:off x="3540941" y="1835201"/>
            <a:ext cx="0" cy="436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E9D2D70-F36E-D0B0-352E-EDCF905A281B}"/>
              </a:ext>
            </a:extLst>
          </p:cNvPr>
          <p:cNvSpPr/>
          <p:nvPr/>
        </p:nvSpPr>
        <p:spPr>
          <a:xfrm>
            <a:off x="5343168" y="2153698"/>
            <a:ext cx="1589661" cy="5355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Analytics + ML(CAGR, Volatility, LSTM Trends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2CDD920-270A-4298-2898-CF1CB1A44B35}"/>
              </a:ext>
            </a:extLst>
          </p:cNvPr>
          <p:cNvCxnSpPr>
            <a:cxnSpLocks/>
          </p:cNvCxnSpPr>
          <p:nvPr/>
        </p:nvCxnSpPr>
        <p:spPr>
          <a:xfrm>
            <a:off x="5619002" y="1711666"/>
            <a:ext cx="0" cy="450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972CE16-E5A7-3399-B39C-BDA05D9CED83}"/>
              </a:ext>
            </a:extLst>
          </p:cNvPr>
          <p:cNvSpPr/>
          <p:nvPr/>
        </p:nvSpPr>
        <p:spPr>
          <a:xfrm>
            <a:off x="7961415" y="5997758"/>
            <a:ext cx="1977924" cy="48645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Revisit Insights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65D5B397-0332-434B-0A98-51ED821CD162}"/>
              </a:ext>
            </a:extLst>
          </p:cNvPr>
          <p:cNvSpPr/>
          <p:nvPr/>
        </p:nvSpPr>
        <p:spPr>
          <a:xfrm>
            <a:off x="4393124" y="5985689"/>
            <a:ext cx="2451755" cy="5355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Suggestions(Reduce Equities/add debt/replace funds)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0462CDB-9B65-4BDD-8D6F-D71E00FABDEF}"/>
              </a:ext>
            </a:extLst>
          </p:cNvPr>
          <p:cNvSpPr/>
          <p:nvPr/>
        </p:nvSpPr>
        <p:spPr>
          <a:xfrm>
            <a:off x="2127009" y="5973627"/>
            <a:ext cx="1413932" cy="53551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309C98E-E712-48BB-8E0B-FB467F07E178}"/>
              </a:ext>
            </a:extLst>
          </p:cNvPr>
          <p:cNvSpPr txBox="1"/>
          <p:nvPr/>
        </p:nvSpPr>
        <p:spPr>
          <a:xfrm>
            <a:off x="3522843" y="-4903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User Interaction Use Case Diagram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44B648A-EAC8-704F-BA02-FDC973EF7196}"/>
              </a:ext>
            </a:extLst>
          </p:cNvPr>
          <p:cNvCxnSpPr>
            <a:cxnSpLocks/>
          </p:cNvCxnSpPr>
          <p:nvPr/>
        </p:nvCxnSpPr>
        <p:spPr>
          <a:xfrm flipH="1">
            <a:off x="6829061" y="6273622"/>
            <a:ext cx="11323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0B5E330-1715-5D68-64D4-340EDCE15DCC}"/>
              </a:ext>
            </a:extLst>
          </p:cNvPr>
          <p:cNvCxnSpPr/>
          <p:nvPr/>
        </p:nvCxnSpPr>
        <p:spPr>
          <a:xfrm flipH="1">
            <a:off x="3563390" y="6253448"/>
            <a:ext cx="8297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D541C84-2D0E-EE54-68DF-A1C2E3C74352}"/>
              </a:ext>
            </a:extLst>
          </p:cNvPr>
          <p:cNvCxnSpPr>
            <a:cxnSpLocks/>
          </p:cNvCxnSpPr>
          <p:nvPr/>
        </p:nvCxnSpPr>
        <p:spPr>
          <a:xfrm>
            <a:off x="8819753" y="5486400"/>
            <a:ext cx="0" cy="480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4E4697D1-E372-7738-4EAC-6CF015831DD6}"/>
              </a:ext>
            </a:extLst>
          </p:cNvPr>
          <p:cNvSpPr/>
          <p:nvPr/>
        </p:nvSpPr>
        <p:spPr>
          <a:xfrm>
            <a:off x="8077291" y="375297"/>
            <a:ext cx="1495905" cy="50260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 Asked ??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75B4C45-55B4-A7A6-8F19-DBA585DE0FC9}"/>
              </a:ext>
            </a:extLst>
          </p:cNvPr>
          <p:cNvCxnSpPr/>
          <p:nvPr/>
        </p:nvCxnSpPr>
        <p:spPr>
          <a:xfrm>
            <a:off x="7220781" y="619833"/>
            <a:ext cx="8565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2562053-A960-C820-CE46-F8E5A4C76CE1}"/>
              </a:ext>
            </a:extLst>
          </p:cNvPr>
          <p:cNvCxnSpPr>
            <a:cxnSpLocks/>
          </p:cNvCxnSpPr>
          <p:nvPr/>
        </p:nvCxnSpPr>
        <p:spPr>
          <a:xfrm>
            <a:off x="901701" y="2830692"/>
            <a:ext cx="1116837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9687661-5CD1-CA80-EE9C-65A42B005CF6}"/>
              </a:ext>
            </a:extLst>
          </p:cNvPr>
          <p:cNvCxnSpPr/>
          <p:nvPr/>
        </p:nvCxnSpPr>
        <p:spPr>
          <a:xfrm>
            <a:off x="7828756" y="1561786"/>
            <a:ext cx="4147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0B445C0B-901E-8114-126D-4772FEAE807E}"/>
              </a:ext>
            </a:extLst>
          </p:cNvPr>
          <p:cNvSpPr/>
          <p:nvPr/>
        </p:nvSpPr>
        <p:spPr>
          <a:xfrm>
            <a:off x="10608732" y="3009422"/>
            <a:ext cx="1363134" cy="14680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Advisor LLM Orchestrator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CB23658F-E5CF-96CD-A516-953DA5C5118C}"/>
              </a:ext>
            </a:extLst>
          </p:cNvPr>
          <p:cNvCxnSpPr>
            <a:endCxn id="11" idx="1"/>
          </p:cNvCxnSpPr>
          <p:nvPr/>
        </p:nvCxnSpPr>
        <p:spPr>
          <a:xfrm rot="5400000" flipH="1" flipV="1">
            <a:off x="5988705" y="1636787"/>
            <a:ext cx="595298" cy="3807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451BC048-DE55-06EC-B8B3-A34499A5FB64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668077" y="1711667"/>
            <a:ext cx="560976" cy="7517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0D164DC3-BA6F-B604-173C-ED1D97E1B727}"/>
              </a:ext>
            </a:extLst>
          </p:cNvPr>
          <p:cNvCxnSpPr/>
          <p:nvPr/>
        </p:nvCxnSpPr>
        <p:spPr>
          <a:xfrm>
            <a:off x="2618803" y="1526095"/>
            <a:ext cx="2405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979ED163-6D3A-7F68-226C-56660D9D5DFC}"/>
              </a:ext>
            </a:extLst>
          </p:cNvPr>
          <p:cNvSpPr txBox="1"/>
          <p:nvPr/>
        </p:nvSpPr>
        <p:spPr>
          <a:xfrm>
            <a:off x="4809067" y="872311"/>
            <a:ext cx="3019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rgbClr val="C00000"/>
                </a:solidFill>
                <a:highlight>
                  <a:srgbClr val="FFFF00"/>
                </a:highlight>
              </a:rPr>
              <a:t>DEFAULT WORKFLOW (Portfolio Rebalance</a:t>
            </a:r>
            <a:r>
              <a:rPr lang="en-IN" sz="1200" b="1" dirty="0">
                <a:highlight>
                  <a:srgbClr val="FFFF00"/>
                </a:highlight>
              </a:rPr>
              <a:t>)</a:t>
            </a:r>
          </a:p>
        </p:txBody>
      </p:sp>
      <p:cxnSp>
        <p:nvCxnSpPr>
          <p:cNvPr id="115" name="Connector: Elbow 114">
            <a:extLst>
              <a:ext uri="{FF2B5EF4-FFF2-40B4-BE49-F238E27FC236}">
                <a16:creationId xmlns:a16="http://schemas.microsoft.com/office/drawing/2014/main" id="{5783A3AC-A32D-CA86-30A4-584750EA4865}"/>
              </a:ext>
            </a:extLst>
          </p:cNvPr>
          <p:cNvCxnSpPr>
            <a:cxnSpLocks/>
          </p:cNvCxnSpPr>
          <p:nvPr/>
        </p:nvCxnSpPr>
        <p:spPr>
          <a:xfrm rot="5400000">
            <a:off x="5168024" y="-2398575"/>
            <a:ext cx="381496" cy="6947393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B21514A-64B8-B693-D80B-0E5EAED27729}"/>
              </a:ext>
            </a:extLst>
          </p:cNvPr>
          <p:cNvSpPr txBox="1"/>
          <p:nvPr/>
        </p:nvSpPr>
        <p:spPr>
          <a:xfrm>
            <a:off x="8373950" y="796054"/>
            <a:ext cx="1041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NO</a:t>
            </a:r>
          </a:p>
        </p:txBody>
      </p: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9D10485A-E637-D84E-C5BB-FA99D4F77867}"/>
              </a:ext>
            </a:extLst>
          </p:cNvPr>
          <p:cNvCxnSpPr>
            <a:cxnSpLocks/>
            <a:stCxn id="15" idx="3"/>
            <a:endCxn id="90" idx="0"/>
          </p:cNvCxnSpPr>
          <p:nvPr/>
        </p:nvCxnSpPr>
        <p:spPr>
          <a:xfrm>
            <a:off x="9573196" y="626598"/>
            <a:ext cx="1717103" cy="238282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E79C7246-D6D9-4AB3-BEC1-468B3BBD29F8}"/>
              </a:ext>
            </a:extLst>
          </p:cNvPr>
          <p:cNvSpPr/>
          <p:nvPr/>
        </p:nvSpPr>
        <p:spPr>
          <a:xfrm>
            <a:off x="6738292" y="2913784"/>
            <a:ext cx="1090464" cy="3693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Understand Intent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C3DA399-6C56-9483-A0A9-1A90229B40A2}"/>
              </a:ext>
            </a:extLst>
          </p:cNvPr>
          <p:cNvSpPr txBox="1"/>
          <p:nvPr/>
        </p:nvSpPr>
        <p:spPr>
          <a:xfrm>
            <a:off x="1307098" y="3039627"/>
            <a:ext cx="35795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prstClr val="white">
                    <a:lumMod val="50000"/>
                  </a:prstClr>
                </a:solidFill>
                <a:highlight>
                  <a:srgbClr val="FFFF00"/>
                </a:highlight>
                <a:latin typeface="Calibri" panose="020F0502020204030204"/>
              </a:rPr>
              <a:t>Fetch Data → Analyze → Predict → Evaluate </a:t>
            </a:r>
            <a:endParaRPr lang="en-IN" sz="1100" b="1" dirty="0">
              <a:solidFill>
                <a:prstClr val="white">
                  <a:lumMod val="50000"/>
                </a:prstClr>
              </a:solidFill>
              <a:highlight>
                <a:srgbClr val="FFFF00"/>
              </a:highlight>
              <a:latin typeface="Calibri" panose="020F0502020204030204"/>
            </a:endParaRP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84B82A2-4711-386C-890A-DA90C013DBF4}"/>
              </a:ext>
            </a:extLst>
          </p:cNvPr>
          <p:cNvCxnSpPr>
            <a:cxnSpLocks/>
          </p:cNvCxnSpPr>
          <p:nvPr/>
        </p:nvCxnSpPr>
        <p:spPr>
          <a:xfrm flipH="1">
            <a:off x="3996267" y="3129647"/>
            <a:ext cx="2681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4DF8A6E4-50C1-08B4-014F-C486C4D0BBCB}"/>
              </a:ext>
            </a:extLst>
          </p:cNvPr>
          <p:cNvCxnSpPr>
            <a:cxnSpLocks/>
          </p:cNvCxnSpPr>
          <p:nvPr/>
        </p:nvCxnSpPr>
        <p:spPr>
          <a:xfrm flipH="1">
            <a:off x="7828756" y="3180798"/>
            <a:ext cx="2779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8AECE573-860A-1C82-D5A8-ACE4B2097B6F}"/>
              </a:ext>
            </a:extLst>
          </p:cNvPr>
          <p:cNvSpPr txBox="1"/>
          <p:nvPr/>
        </p:nvSpPr>
        <p:spPr>
          <a:xfrm>
            <a:off x="4712574" y="3074505"/>
            <a:ext cx="1774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Full Analysis &amp; Summary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8A26B18-9029-7EF5-A07D-5FD007624755}"/>
              </a:ext>
            </a:extLst>
          </p:cNvPr>
          <p:cNvSpPr txBox="1"/>
          <p:nvPr/>
        </p:nvSpPr>
        <p:spPr>
          <a:xfrm>
            <a:off x="7961415" y="2830692"/>
            <a:ext cx="26145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“Analyze my portfolio” | “Is my portfolio good?” | “How is my current allocation?”</a:t>
            </a:r>
            <a:endParaRPr lang="en-IN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7D4372CD-8D59-0AD2-2374-2A7FB2AA9C2F}"/>
              </a:ext>
            </a:extLst>
          </p:cNvPr>
          <p:cNvSpPr txBox="1"/>
          <p:nvPr/>
        </p:nvSpPr>
        <p:spPr>
          <a:xfrm>
            <a:off x="11273001" y="1776034"/>
            <a:ext cx="1174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YES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5438B833-FF06-B4EE-3550-E892DD67389D}"/>
              </a:ext>
            </a:extLst>
          </p:cNvPr>
          <p:cNvSpPr/>
          <p:nvPr/>
        </p:nvSpPr>
        <p:spPr>
          <a:xfrm>
            <a:off x="6738292" y="3455869"/>
            <a:ext cx="1158197" cy="3693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Understand Intent</a:t>
            </a:r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46566493-3F8E-5C75-3228-9D41C1DFDD42}"/>
              </a:ext>
            </a:extLst>
          </p:cNvPr>
          <p:cNvCxnSpPr/>
          <p:nvPr/>
        </p:nvCxnSpPr>
        <p:spPr>
          <a:xfrm flipH="1">
            <a:off x="7896489" y="3589867"/>
            <a:ext cx="26794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D0A93493-821A-590F-9B63-5D7D12416A13}"/>
              </a:ext>
            </a:extLst>
          </p:cNvPr>
          <p:cNvSpPr txBox="1"/>
          <p:nvPr/>
        </p:nvSpPr>
        <p:spPr>
          <a:xfrm>
            <a:off x="7961415" y="3376551"/>
            <a:ext cx="2599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“What is the return of my portfolio?” “Which fund is underperforming?” “How did my funds perform in the last 2 years?”</a:t>
            </a:r>
            <a:endParaRPr lang="en-IN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097096E-1BDE-6EA9-86AB-73F66C53D3B4}"/>
              </a:ext>
            </a:extLst>
          </p:cNvPr>
          <p:cNvSpPr txBox="1"/>
          <p:nvPr/>
        </p:nvSpPr>
        <p:spPr>
          <a:xfrm>
            <a:off x="1302556" y="3455869"/>
            <a:ext cx="2802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prstClr val="white">
                    <a:lumMod val="50000"/>
                  </a:prstClr>
                </a:solidFill>
                <a:highlight>
                  <a:srgbClr val="FFFF00"/>
                </a:highlight>
                <a:latin typeface="Calibri" panose="020F0502020204030204"/>
              </a:rPr>
              <a:t>Fetch NAV → Compute Returns → Compare → Rank Funds</a:t>
            </a:r>
            <a:endParaRPr lang="en-IN" sz="1100" b="1" dirty="0">
              <a:solidFill>
                <a:prstClr val="white">
                  <a:lumMod val="50000"/>
                </a:prstClr>
              </a:solidFill>
              <a:highlight>
                <a:srgbClr val="FFFF00"/>
              </a:highlight>
              <a:latin typeface="Calibri" panose="020F0502020204030204"/>
            </a:endParaRPr>
          </a:p>
          <a:p>
            <a:endParaRPr lang="en-IN" dirty="0"/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72BDB7E4-B8B8-8B5A-E1DA-4A8415D1DCE7}"/>
              </a:ext>
            </a:extLst>
          </p:cNvPr>
          <p:cNvCxnSpPr>
            <a:cxnSpLocks/>
          </p:cNvCxnSpPr>
          <p:nvPr/>
        </p:nvCxnSpPr>
        <p:spPr>
          <a:xfrm flipH="1">
            <a:off x="3996267" y="3589867"/>
            <a:ext cx="2742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DA25BB86-AB20-A5B4-EE35-16E79FE46774}"/>
              </a:ext>
            </a:extLst>
          </p:cNvPr>
          <p:cNvSpPr txBox="1"/>
          <p:nvPr/>
        </p:nvSpPr>
        <p:spPr>
          <a:xfrm>
            <a:off x="4954072" y="3589866"/>
            <a:ext cx="1478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Performance query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875310EA-5690-B316-06B5-CDAEDF6A3732}"/>
              </a:ext>
            </a:extLst>
          </p:cNvPr>
          <p:cNvSpPr/>
          <p:nvPr/>
        </p:nvSpPr>
        <p:spPr>
          <a:xfrm>
            <a:off x="6780561" y="3989004"/>
            <a:ext cx="1180854" cy="36933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>
                <a:solidFill>
                  <a:prstClr val="white">
                    <a:lumMod val="50000"/>
                  </a:prstClr>
                </a:solidFill>
                <a:latin typeface="Calibri" panose="020F0502020204030204"/>
              </a:rPr>
              <a:t>Understand Intent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A4517AD-55B0-295B-8157-01077B3C9152}"/>
              </a:ext>
            </a:extLst>
          </p:cNvPr>
          <p:cNvCxnSpPr>
            <a:cxnSpLocks/>
            <a:endCxn id="149" idx="3"/>
          </p:cNvCxnSpPr>
          <p:nvPr/>
        </p:nvCxnSpPr>
        <p:spPr>
          <a:xfrm flipH="1" flipV="1">
            <a:off x="7961415" y="4173670"/>
            <a:ext cx="2625888" cy="34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E500DEBF-A931-0E51-AEEE-6CC19A97DF33}"/>
              </a:ext>
            </a:extLst>
          </p:cNvPr>
          <p:cNvSpPr txBox="1"/>
          <p:nvPr/>
        </p:nvSpPr>
        <p:spPr>
          <a:xfrm>
            <a:off x="8087269" y="3990706"/>
            <a:ext cx="20007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accent2">
                    <a:lumMod val="75000"/>
                  </a:schemeClr>
                </a:solidFill>
              </a:rPr>
              <a:t>“Which fund will perform better?”| “What is the future trend of my | portfolio?”|  “Should I stay invested?”</a:t>
            </a:r>
            <a:endParaRPr lang="en-IN" sz="1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515FDBB-764E-32D5-2BFC-0095270693C4}"/>
              </a:ext>
            </a:extLst>
          </p:cNvPr>
          <p:cNvSpPr txBox="1"/>
          <p:nvPr/>
        </p:nvSpPr>
        <p:spPr>
          <a:xfrm>
            <a:off x="1317890" y="4102943"/>
            <a:ext cx="27868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b="1" dirty="0">
                <a:solidFill>
                  <a:prstClr val="white">
                    <a:lumMod val="50000"/>
                  </a:prstClr>
                </a:solidFill>
                <a:highlight>
                  <a:srgbClr val="FFFF00"/>
                </a:highlight>
                <a:latin typeface="Calibri" panose="020F0502020204030204"/>
              </a:rPr>
              <a:t>Fetch Data → Preprocess → Run LSTM → Forecast → Analyse Trends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FDA85285-8091-3478-EC10-C6813ADC6B5F}"/>
              </a:ext>
            </a:extLst>
          </p:cNvPr>
          <p:cNvCxnSpPr/>
          <p:nvPr/>
        </p:nvCxnSpPr>
        <p:spPr>
          <a:xfrm flipH="1">
            <a:off x="3905877" y="4183582"/>
            <a:ext cx="28746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01B96E09-71EE-2153-139D-BB1A90E0BD41}"/>
              </a:ext>
            </a:extLst>
          </p:cNvPr>
          <p:cNvSpPr txBox="1"/>
          <p:nvPr/>
        </p:nvSpPr>
        <p:spPr>
          <a:xfrm>
            <a:off x="4982153" y="4163755"/>
            <a:ext cx="1268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accent2">
                    <a:lumMod val="75000"/>
                  </a:schemeClr>
                </a:solidFill>
              </a:rPr>
              <a:t>Prediction query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9037236-8370-BF30-2624-A1CEEC76418B}"/>
              </a:ext>
            </a:extLst>
          </p:cNvPr>
          <p:cNvSpPr txBox="1"/>
          <p:nvPr/>
        </p:nvSpPr>
        <p:spPr>
          <a:xfrm>
            <a:off x="1317890" y="2979736"/>
            <a:ext cx="2678377" cy="156247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166" name="Connector: Elbow 165">
            <a:extLst>
              <a:ext uri="{FF2B5EF4-FFF2-40B4-BE49-F238E27FC236}">
                <a16:creationId xmlns:a16="http://schemas.microsoft.com/office/drawing/2014/main" id="{FAAEAF80-7887-FD98-AA2F-38767894923C}"/>
              </a:ext>
            </a:extLst>
          </p:cNvPr>
          <p:cNvCxnSpPr>
            <a:cxnSpLocks/>
            <a:stCxn id="163" idx="2"/>
            <a:endCxn id="14" idx="0"/>
          </p:cNvCxnSpPr>
          <p:nvPr/>
        </p:nvCxnSpPr>
        <p:spPr>
          <a:xfrm rot="16200000" flipH="1">
            <a:off x="5381109" y="1818176"/>
            <a:ext cx="502977" cy="595103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673880B0-9DA2-A1A8-0AE5-1E076434CB4F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9528561" y="1802714"/>
            <a:ext cx="122366" cy="326242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194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93D499-501E-494A-B94A-DC24266FC145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200</Words>
  <Application>Microsoft Office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Sankhabrata Burman</dc:creator>
  <cp:lastModifiedBy>Sankhabrata Burman</cp:lastModifiedBy>
  <cp:revision>22</cp:revision>
  <dcterms:created xsi:type="dcterms:W3CDTF">2026-05-02T16:27:40Z</dcterms:created>
  <dcterms:modified xsi:type="dcterms:W3CDTF">2026-05-05T20:21:23Z</dcterms:modified>
</cp:coreProperties>
</file>